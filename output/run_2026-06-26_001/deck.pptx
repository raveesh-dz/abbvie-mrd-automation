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71D49"/>
                </a:solidFill>
                <a:latin typeface="Montserrat Medium"/>
              </a:rPr>
              <a:t>SKYRIZI HOLDOUT  ·  CROHN'S NEW PRESCRIBING (NBRX, LAST 13 WEEKS)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E40D62"/>
                </a:solidFill>
                <a:latin typeface="Montserrat Medium"/>
              </a:rPr>
              <a:t>01 OF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03504"/>
            <a:ext cx="11384280" cy="16459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338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071D49"/>
                </a:solidFill>
                <a:latin typeface="Montserrat Medium"/>
              </a:rPr>
              <a:t>700 Crohn's HCPs Narrow to a 30-Prescriber STELARA Switch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627632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1">
                <a:solidFill>
                  <a:srgbClr val="50535A"/>
                </a:solidFill>
                <a:latin typeface="Roboto"/>
              </a:rPr>
              <a:t>Every in-scope gastro HCP classified by SKYRIZI vs STELARA Crohn's NBRx over the last 13 weeks. Most Holdouts are not actively prescribing; the real conversion target is small and specific.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2790" y="3040380"/>
            <a:ext cx="20117" cy="1883664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0" y="3967582"/>
            <a:ext cx="155448" cy="20117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12848" y="3030322"/>
            <a:ext cx="164592" cy="20117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12848" y="4913986"/>
            <a:ext cx="164592" cy="20117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4782" y="2514600"/>
            <a:ext cx="20117" cy="1042416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3030322"/>
            <a:ext cx="182880" cy="20117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504542"/>
            <a:ext cx="182880" cy="20117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025750"/>
            <a:ext cx="182880" cy="20117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546958"/>
            <a:ext cx="182880" cy="20117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24782" y="4663440"/>
            <a:ext cx="20117" cy="521208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4913986"/>
            <a:ext cx="182880" cy="20117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4653382"/>
            <a:ext cx="182880" cy="20117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5174590"/>
            <a:ext cx="182880" cy="20117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520440"/>
            <a:ext cx="1600200" cy="914400"/>
          </a:xfrm>
          <a:prstGeom prst="roundRect">
            <a:avLst/>
          </a:prstGeom>
          <a:solidFill>
            <a:srgbClr val="071D49"/>
          </a:solidFill>
          <a:ln w="19050">
            <a:solidFill>
              <a:srgbClr val="071D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30168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ontserrat Medium"/>
              </a:rPr>
              <a:t>ANALYSIS POOL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14216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ontserrat Medium"/>
              </a:rPr>
              <a:t>700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2651760"/>
            <a:ext cx="1874520" cy="777240"/>
          </a:xfrm>
          <a:prstGeom prst="roundRect">
            <a:avLst/>
          </a:prstGeom>
          <a:solidFill>
            <a:srgbClr val="FBE3EA"/>
          </a:solidFill>
          <a:ln w="19050">
            <a:solidFill>
              <a:srgbClr val="E40D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2761488"/>
            <a:ext cx="1874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71D49"/>
                </a:solidFill>
                <a:latin typeface="Montserrat Medium"/>
              </a:rPr>
              <a:t>HOLDOUT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008376"/>
            <a:ext cx="1874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40D62"/>
                </a:solidFill>
                <a:latin typeface="Montserrat Medium"/>
              </a:rPr>
              <a:t>456  ·  65%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4535424"/>
            <a:ext cx="1874520" cy="777240"/>
          </a:xfrm>
          <a:prstGeom prst="roundRect">
            <a:avLst/>
          </a:prstGeom>
          <a:solidFill>
            <a:srgbClr val="E4F5F4"/>
          </a:solidFill>
          <a:ln w="19050">
            <a:solidFill>
              <a:srgbClr val="07B2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4645152"/>
            <a:ext cx="1874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71D49"/>
                </a:solidFill>
                <a:latin typeface="Montserrat Medium"/>
              </a:rPr>
              <a:t>NON-HOLDOUT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892040"/>
            <a:ext cx="1874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7B2AC"/>
                </a:solidFill>
                <a:latin typeface="Montserrat Medium"/>
              </a:rPr>
              <a:t>244  ·  35%</a:t>
            </a:r>
          </a:p>
        </p:txBody>
      </p:sp>
      <p:sp>
        <p:nvSpPr>
          <p:cNvPr id="30" name="Oval 29"/>
          <p:cNvSpPr/>
          <p:nvPr/>
        </p:nvSpPr>
        <p:spPr>
          <a:xfrm>
            <a:off x="4631436" y="2363724"/>
            <a:ext cx="137160" cy="137160"/>
          </a:xfrm>
          <a:prstGeom prst="ellipse">
            <a:avLst/>
          </a:prstGeom>
          <a:solidFill>
            <a:srgbClr val="505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55464" y="2267712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71D49"/>
                </a:solidFill>
                <a:latin typeface="Roboto"/>
              </a:rPr>
              <a:t>No CD NBRx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5464" y="2569464"/>
            <a:ext cx="1325880" cy="68580"/>
          </a:xfrm>
          <a:prstGeom prst="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55464" y="2569464"/>
            <a:ext cx="1325880" cy="68580"/>
          </a:xfrm>
          <a:prstGeom prst="rect">
            <a:avLst/>
          </a:prstGeom>
          <a:solidFill>
            <a:srgbClr val="505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228600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71D49"/>
                </a:solidFill>
                <a:latin typeface="Montserrat Medium"/>
              </a:rPr>
              <a:t>426</a:t>
            </a:r>
          </a:p>
        </p:txBody>
      </p:sp>
      <p:sp>
        <p:nvSpPr>
          <p:cNvPr id="35" name="Oval 34"/>
          <p:cNvSpPr/>
          <p:nvPr/>
        </p:nvSpPr>
        <p:spPr>
          <a:xfrm>
            <a:off x="4631436" y="2884932"/>
            <a:ext cx="137160" cy="137160"/>
          </a:xfrm>
          <a:prstGeom prst="ellipse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55464" y="2788920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71D49"/>
                </a:solidFill>
                <a:latin typeface="Roboto"/>
              </a:rPr>
              <a:t>STELARA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55464" y="3090672"/>
            <a:ext cx="1325880" cy="68580"/>
          </a:xfrm>
          <a:prstGeom prst="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55464" y="3090672"/>
            <a:ext cx="52911" cy="68580"/>
          </a:xfrm>
          <a:prstGeom prst="rect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2807208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71D49"/>
                </a:solidFill>
                <a:latin typeface="Montserrat Medium"/>
              </a:rPr>
              <a:t>17</a:t>
            </a:r>
          </a:p>
        </p:txBody>
      </p:sp>
      <p:sp>
        <p:nvSpPr>
          <p:cNvPr id="40" name="Oval 39"/>
          <p:cNvSpPr/>
          <p:nvPr/>
        </p:nvSpPr>
        <p:spPr>
          <a:xfrm>
            <a:off x="4631436" y="3406140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55464" y="3310128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71D49"/>
                </a:solidFill>
                <a:latin typeface="Roboto"/>
              </a:rPr>
              <a:t>Both · lean STELARA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55464" y="3611880"/>
            <a:ext cx="1325880" cy="68580"/>
          </a:xfrm>
          <a:prstGeom prst="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55464" y="3611880"/>
            <a:ext cx="45720" cy="685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332841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71D49"/>
                </a:solidFill>
                <a:latin typeface="Montserrat Medium"/>
              </a:rPr>
              <a:t>13</a:t>
            </a:r>
          </a:p>
        </p:txBody>
      </p:sp>
      <p:sp>
        <p:nvSpPr>
          <p:cNvPr id="45" name="Oval 44"/>
          <p:cNvSpPr/>
          <p:nvPr/>
        </p:nvSpPr>
        <p:spPr>
          <a:xfrm>
            <a:off x="4631436" y="4512564"/>
            <a:ext cx="137160" cy="137160"/>
          </a:xfrm>
          <a:prstGeom prst="ellipse">
            <a:avLst/>
          </a:prstGeom>
          <a:solidFill>
            <a:srgbClr val="07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55464" y="4416552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71D49"/>
                </a:solidFill>
                <a:latin typeface="Roboto"/>
              </a:rPr>
              <a:t>SKYRIZI 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55464" y="4718304"/>
            <a:ext cx="1325880" cy="68580"/>
          </a:xfrm>
          <a:prstGeom prst="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55464" y="4718304"/>
            <a:ext cx="756312" cy="68580"/>
          </a:xfrm>
          <a:prstGeom prst="rect">
            <a:avLst/>
          </a:prstGeom>
          <a:solidFill>
            <a:srgbClr val="07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443484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71D49"/>
                </a:solidFill>
                <a:latin typeface="Montserrat Medium"/>
              </a:rPr>
              <a:t>243</a:t>
            </a:r>
          </a:p>
        </p:txBody>
      </p:sp>
      <p:sp>
        <p:nvSpPr>
          <p:cNvPr id="50" name="Oval 49"/>
          <p:cNvSpPr/>
          <p:nvPr/>
        </p:nvSpPr>
        <p:spPr>
          <a:xfrm>
            <a:off x="4631436" y="5033772"/>
            <a:ext cx="137160" cy="137160"/>
          </a:xfrm>
          <a:prstGeom prst="ellipse">
            <a:avLst/>
          </a:prstGeom>
          <a:solidFill>
            <a:srgbClr val="9B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55464" y="4937760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71D49"/>
                </a:solidFill>
                <a:latin typeface="Roboto"/>
              </a:rPr>
              <a:t>Both · lean SKYRIZI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55464" y="5239512"/>
            <a:ext cx="1325880" cy="68580"/>
          </a:xfrm>
          <a:prstGeom prst="rect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55464" y="5239512"/>
            <a:ext cx="45720" cy="68580"/>
          </a:xfrm>
          <a:prstGeom prst="rect">
            <a:avLst/>
          </a:prstGeom>
          <a:solidFill>
            <a:srgbClr val="9B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2512" y="4956048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71D49"/>
                </a:solidFill>
                <a:latin typeface="Montserrat Medium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60336" y="2843784"/>
            <a:ext cx="50292" cy="905256"/>
          </a:xfrm>
          <a:prstGeom prst="rect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223760" y="2501798"/>
            <a:ext cx="457200" cy="25603"/>
          </a:xfrm>
          <a:prstGeom prst="rect">
            <a:avLst/>
          </a:prstGeom>
          <a:solidFill>
            <a:srgbClr val="505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178040" y="2468880"/>
            <a:ext cx="91440" cy="91440"/>
          </a:xfrm>
          <a:prstGeom prst="ellipse">
            <a:avLst/>
          </a:prstGeom>
          <a:solidFill>
            <a:srgbClr val="505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680960" y="2231136"/>
            <a:ext cx="4069080" cy="768096"/>
          </a:xfrm>
          <a:prstGeom prst="round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80960" y="2231136"/>
            <a:ext cx="64008" cy="768096"/>
          </a:xfrm>
          <a:prstGeom prst="rect">
            <a:avLst/>
          </a:prstGeom>
          <a:solidFill>
            <a:srgbClr val="505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82128" y="2322576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535A"/>
                </a:solidFill>
                <a:latin typeface="Montserrat Medium"/>
              </a:rPr>
              <a:t>426 are silent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2128" y="2615184"/>
            <a:ext cx="3703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50535A"/>
                </a:solidFill>
                <a:latin typeface="Roboto"/>
              </a:rPr>
              <a:t>Wrote no Crohn's NBRx at all: an activation and sizing question, not a STELARA switch. Keep them off the target list.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0" y="3283610"/>
            <a:ext cx="365760" cy="25603"/>
          </a:xfrm>
          <a:prstGeom prst="rect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69480" y="3250692"/>
            <a:ext cx="91440" cy="91440"/>
          </a:xfrm>
          <a:prstGeom prst="ellipse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680960" y="3108960"/>
            <a:ext cx="4069080" cy="1060704"/>
          </a:xfrm>
          <a:prstGeom prst="roundRect">
            <a:avLst/>
          </a:prstGeom>
          <a:solidFill>
            <a:srgbClr val="FB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0" y="3108960"/>
            <a:ext cx="64008" cy="1060704"/>
          </a:xfrm>
          <a:prstGeom prst="rect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82128" y="320040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0D62"/>
                </a:solidFill>
                <a:latin typeface="Montserrat Medium"/>
              </a:rPr>
              <a:t>30 active STELARA prescribers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82128" y="3493008"/>
            <a:ext cx="3703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50535A"/>
                </a:solidFill>
                <a:latin typeface="Roboto"/>
              </a:rPr>
              <a:t>17 write STELARA only and 13 write both but lean STELARA. The concentrated, high-yield conversion target.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23760" y="4650638"/>
            <a:ext cx="457200" cy="25603"/>
          </a:xfrm>
          <a:prstGeom prst="rect">
            <a:avLst/>
          </a:prstGeom>
          <a:solidFill>
            <a:srgbClr val="07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178040" y="4617720"/>
            <a:ext cx="91440" cy="91440"/>
          </a:xfrm>
          <a:prstGeom prst="ellipse">
            <a:avLst/>
          </a:prstGeom>
          <a:solidFill>
            <a:srgbClr val="07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680960" y="4443984"/>
            <a:ext cx="4069080" cy="932688"/>
          </a:xfrm>
          <a:prstGeom prst="roundRect">
            <a:avLst/>
          </a:prstGeom>
          <a:solidFill>
            <a:srgbClr val="E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80960" y="4443984"/>
            <a:ext cx="64008" cy="932688"/>
          </a:xfrm>
          <a:prstGeom prst="rect">
            <a:avLst/>
          </a:prstGeom>
          <a:solidFill>
            <a:srgbClr val="07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82128" y="453542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7B2AC"/>
                </a:solidFill>
                <a:latin typeface="Montserrat Medium"/>
              </a:rPr>
              <a:t>SKYRIZI already wins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82128" y="4828032"/>
            <a:ext cx="37033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50535A"/>
                </a:solidFill>
                <a:latin typeface="Roboto"/>
              </a:rPr>
              <a:t>436 vs 32 Crohn's NBRx (13.6x). Among Non-Holdouts the priority is retention, not conversion.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961888"/>
            <a:ext cx="11384280" cy="420624"/>
          </a:xfrm>
          <a:prstGeom prst="rect">
            <a:avLst/>
          </a:prstGeom>
          <a:solidFill>
            <a:srgbClr val="FB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1480" y="5961888"/>
            <a:ext cx="54864" cy="420624"/>
          </a:xfrm>
          <a:prstGeom prst="rect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5961888"/>
            <a:ext cx="11064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0D62"/>
                </a:solidFill>
                <a:latin typeface="Roboto"/>
              </a:rPr>
              <a:t>TL;DR   </a:t>
            </a:r>
            <a:r>
              <a:rPr sz="1150" b="0" i="0">
                <a:solidFill>
                  <a:srgbClr val="071D49"/>
                </a:solidFill>
                <a:latin typeface="Roboto"/>
              </a:rPr>
              <a:t>Put conversion effort on the 30 active STELARA-leaning prescribers; the 244 Non-Holdouts are a retention play.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0D62"/>
                </a:solidFill>
                <a:latin typeface="Montserrat Medium"/>
              </a:rPr>
              <a:t>▶ </a:t>
            </a:r>
            <a:r>
              <a:rPr sz="1100" b="1" i="0">
                <a:solidFill>
                  <a:srgbClr val="071D49"/>
                </a:solidFill>
                <a:latin typeface="Montserrat Medium"/>
              </a:rPr>
              <a:t>DataZymes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071D49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