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Ulcerative Colitis (UC)</c:v>
                </c:pt>
              </c:strCache>
            </c:strRef>
          </c:tx>
          <c:spPr>
            <a:ln w="28575">
              <a:solidFill>
                <a:srgbClr val="07B2AC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  <c:pt idx="106">
                  <c:v>05-15</c:v>
                </c:pt>
                <c:pt idx="107">
                  <c:v>05-22</c:v>
                </c:pt>
                <c:pt idx="108">
                  <c:v>05-29</c:v>
                </c:pt>
                <c:pt idx="109">
                  <c:v>06-05</c:v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2.612332</c:v>
                </c:pt>
                <c:pt idx="1">
                  <c:v>2.702344</c:v>
                </c:pt>
                <c:pt idx="2">
                  <c:v>2.78221</c:v>
                </c:pt>
                <c:pt idx="3">
                  <c:v>2.782865</c:v>
                </c:pt>
                <c:pt idx="4">
                  <c:v>2.15619</c:v>
                </c:pt>
                <c:pt idx="5">
                  <c:v>2.746877</c:v>
                </c:pt>
                <c:pt idx="6">
                  <c:v>2.713723</c:v>
                </c:pt>
                <c:pt idx="7">
                  <c:v>2.529534</c:v>
                </c:pt>
                <c:pt idx="8">
                  <c:v>2.609349</c:v>
                </c:pt>
                <c:pt idx="9">
                  <c:v>1.809377</c:v>
                </c:pt>
                <c:pt idx="10">
                  <c:v>3.008849</c:v>
                </c:pt>
                <c:pt idx="11">
                  <c:v>2.698503</c:v>
                </c:pt>
                <c:pt idx="12">
                  <c:v>2.653199</c:v>
                </c:pt>
                <c:pt idx="13">
                  <c:v>2.616264</c:v>
                </c:pt>
                <c:pt idx="14">
                  <c:v>2.468523</c:v>
                </c:pt>
                <c:pt idx="15">
                  <c:v>2.538201</c:v>
                </c:pt>
                <c:pt idx="16">
                  <c:v>2.450886</c:v>
                </c:pt>
                <c:pt idx="17">
                  <c:v>2.649313</c:v>
                </c:pt>
                <c:pt idx="18">
                  <c:v>2.414876</c:v>
                </c:pt>
                <c:pt idx="19">
                  <c:v>2.900123</c:v>
                </c:pt>
                <c:pt idx="20">
                  <c:v>2.866679</c:v>
                </c:pt>
                <c:pt idx="21">
                  <c:v>2.819985</c:v>
                </c:pt>
                <c:pt idx="22">
                  <c:v>3.126088</c:v>
                </c:pt>
                <c:pt idx="23">
                  <c:v>2.848107</c:v>
                </c:pt>
                <c:pt idx="24">
                  <c:v>3.1381</c:v>
                </c:pt>
                <c:pt idx="25">
                  <c:v>2.93562</c:v>
                </c:pt>
                <c:pt idx="26">
                  <c:v>4.741307</c:v>
                </c:pt>
                <c:pt idx="27">
                  <c:v>4.812503</c:v>
                </c:pt>
                <c:pt idx="28">
                  <c:v>6.445226</c:v>
                </c:pt>
                <c:pt idx="29">
                  <c:v>6.443161</c:v>
                </c:pt>
                <c:pt idx="30">
                  <c:v>3.850622</c:v>
                </c:pt>
                <c:pt idx="31">
                  <c:v>8.508722</c:v>
                </c:pt>
                <c:pt idx="32">
                  <c:v>15.687294</c:v>
                </c:pt>
                <c:pt idx="33">
                  <c:v>8.934157</c:v>
                </c:pt>
                <c:pt idx="34">
                  <c:v>13.131984</c:v>
                </c:pt>
                <c:pt idx="35">
                  <c:v>20.110836</c:v>
                </c:pt>
                <c:pt idx="36">
                  <c:v>26.894615</c:v>
                </c:pt>
                <c:pt idx="37">
                  <c:v>30.380545</c:v>
                </c:pt>
                <c:pt idx="38">
                  <c:v>31.611349</c:v>
                </c:pt>
                <c:pt idx="39">
                  <c:v>55.597549</c:v>
                </c:pt>
                <c:pt idx="40">
                  <c:v>60.02064</c:v>
                </c:pt>
                <c:pt idx="41">
                  <c:v>63.630046</c:v>
                </c:pt>
                <c:pt idx="42">
                  <c:v>85.133014</c:v>
                </c:pt>
                <c:pt idx="43">
                  <c:v>93.289426</c:v>
                </c:pt>
                <c:pt idx="44">
                  <c:v>141.681555</c:v>
                </c:pt>
                <c:pt idx="45">
                  <c:v>136.408007</c:v>
                </c:pt>
                <c:pt idx="46">
                  <c:v>148.381465</c:v>
                </c:pt>
                <c:pt idx="47">
                  <c:v>159.800669</c:v>
                </c:pt>
                <c:pt idx="48">
                  <c:v>153.521199</c:v>
                </c:pt>
                <c:pt idx="49">
                  <c:v>221.599095</c:v>
                </c:pt>
                <c:pt idx="50">
                  <c:v>211.750973</c:v>
                </c:pt>
                <c:pt idx="51">
                  <c:v>293.869958</c:v>
                </c:pt>
                <c:pt idx="52">
                  <c:v>271.593679</c:v>
                </c:pt>
                <c:pt idx="53">
                  <c:v>328.537725</c:v>
                </c:pt>
                <c:pt idx="54">
                  <c:v>370.178806</c:v>
                </c:pt>
                <c:pt idx="55">
                  <c:v>471.394713</c:v>
                </c:pt>
                <c:pt idx="56">
                  <c:v>384.06305</c:v>
                </c:pt>
                <c:pt idx="57">
                  <c:v>493.561404</c:v>
                </c:pt>
                <c:pt idx="58">
                  <c:v>534.701958</c:v>
                </c:pt>
                <c:pt idx="59">
                  <c:v>605.6644</c:v>
                </c:pt>
                <c:pt idx="60">
                  <c:v>720.101527</c:v>
                </c:pt>
                <c:pt idx="61">
                  <c:v>429.139693</c:v>
                </c:pt>
                <c:pt idx="62">
                  <c:v>730.309522</c:v>
                </c:pt>
                <c:pt idx="63">
                  <c:v>706.457976</c:v>
                </c:pt>
                <c:pt idx="64">
                  <c:v>769.758564</c:v>
                </c:pt>
                <c:pt idx="65">
                  <c:v>752.326198</c:v>
                </c:pt>
                <c:pt idx="66">
                  <c:v>844.072529</c:v>
                </c:pt>
                <c:pt idx="67">
                  <c:v>911.742977</c:v>
                </c:pt>
                <c:pt idx="68">
                  <c:v>989.051921</c:v>
                </c:pt>
                <c:pt idx="69">
                  <c:v>1046.923918</c:v>
                </c:pt>
                <c:pt idx="70">
                  <c:v>865.785956</c:v>
                </c:pt>
                <c:pt idx="71">
                  <c:v>1107.241494</c:v>
                </c:pt>
                <c:pt idx="72">
                  <c:v>1177.814627</c:v>
                </c:pt>
                <c:pt idx="73">
                  <c:v>1149.275189</c:v>
                </c:pt>
                <c:pt idx="74">
                  <c:v>1188.668498</c:v>
                </c:pt>
                <c:pt idx="75">
                  <c:v>1196.056556</c:v>
                </c:pt>
                <c:pt idx="76">
                  <c:v>1332.136658</c:v>
                </c:pt>
                <c:pt idx="77">
                  <c:v>1342.50119</c:v>
                </c:pt>
                <c:pt idx="78">
                  <c:v>1396.510944</c:v>
                </c:pt>
                <c:pt idx="79">
                  <c:v>1497.327143</c:v>
                </c:pt>
                <c:pt idx="80">
                  <c:v>1611.036366</c:v>
                </c:pt>
                <c:pt idx="81">
                  <c:v>1711.867565</c:v>
                </c:pt>
                <c:pt idx="82">
                  <c:v>1213.207282</c:v>
                </c:pt>
                <c:pt idx="83">
                  <c:v>1919.659971</c:v>
                </c:pt>
                <c:pt idx="84">
                  <c:v>1934.914688</c:v>
                </c:pt>
                <c:pt idx="85">
                  <c:v>2020.871073</c:v>
                </c:pt>
                <c:pt idx="86">
                  <c:v>1349.661994</c:v>
                </c:pt>
                <c:pt idx="87">
                  <c:v>1565.882949</c:v>
                </c:pt>
                <c:pt idx="88">
                  <c:v>2289.050671</c:v>
                </c:pt>
                <c:pt idx="89">
                  <c:v>2164.959166</c:v>
                </c:pt>
                <c:pt idx="90">
                  <c:v>1748.106984</c:v>
                </c:pt>
                <c:pt idx="91">
                  <c:v>1774.982863</c:v>
                </c:pt>
                <c:pt idx="92">
                  <c:v>2431.445212</c:v>
                </c:pt>
                <c:pt idx="93">
                  <c:v>2366.376774</c:v>
                </c:pt>
                <c:pt idx="94">
                  <c:v>2190.94118</c:v>
                </c:pt>
                <c:pt idx="95">
                  <c:v>2343.009056</c:v>
                </c:pt>
                <c:pt idx="96">
                  <c:v>2540.48585</c:v>
                </c:pt>
                <c:pt idx="97">
                  <c:v>2462.2867</c:v>
                </c:pt>
                <c:pt idx="98">
                  <c:v>2428.318927</c:v>
                </c:pt>
                <c:pt idx="99">
                  <c:v>2770.962167</c:v>
                </c:pt>
                <c:pt idx="100">
                  <c:v>2719.39605</c:v>
                </c:pt>
                <c:pt idx="101">
                  <c:v>2565.06414</c:v>
                </c:pt>
                <c:pt idx="102">
                  <c:v>2591.39877</c:v>
                </c:pt>
                <c:pt idx="103">
                  <c:v>2781.238172</c:v>
                </c:pt>
                <c:pt idx="104">
                  <c:v>3026.023212</c:v>
                </c:pt>
                <c:pt idx="105">
                  <c:v>3120.916383</c:v>
                </c:pt>
                <c:pt idx="106">
                  <c:v>3183.334711</c:v>
                </c:pt>
                <c:pt idx="107">
                  <c:v>3247.001405</c:v>
                </c:pt>
                <c:pt idx="108">
                  <c:v>3311.941433</c:v>
                </c:pt>
                <c:pt idx="109">
                  <c:v>3378.180262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Crohn's (CD)</c:v>
                </c:pt>
              </c:strCache>
            </c:strRef>
          </c:tx>
          <c:spPr>
            <a:ln w="28575">
              <a:solidFill>
                <a:srgbClr val="E40D6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  <c:pt idx="106">
                  <c:v>05-15</c:v>
                </c:pt>
                <c:pt idx="107">
                  <c:v>05-22</c:v>
                </c:pt>
                <c:pt idx="108">
                  <c:v>05-29</c:v>
                </c:pt>
                <c:pt idx="109">
                  <c:v>06-05</c:v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0">
                  <c:v>5.290623</c:v>
                </c:pt>
                <c:pt idx="1">
                  <c:v>5.472922</c:v>
                </c:pt>
                <c:pt idx="2">
                  <c:v>5.63467</c:v>
                </c:pt>
                <c:pt idx="3">
                  <c:v>5.635995</c:v>
                </c:pt>
                <c:pt idx="4">
                  <c:v>4.366822</c:v>
                </c:pt>
                <c:pt idx="5">
                  <c:v>5.554632</c:v>
                </c:pt>
                <c:pt idx="6">
                  <c:v>5.487589</c:v>
                </c:pt>
                <c:pt idx="7">
                  <c:v>5.115128</c:v>
                </c:pt>
                <c:pt idx="8">
                  <c:v>5.276528</c:v>
                </c:pt>
                <c:pt idx="9">
                  <c:v>3.623258</c:v>
                </c:pt>
                <c:pt idx="10">
                  <c:v>6.025185</c:v>
                </c:pt>
                <c:pt idx="11">
                  <c:v>5.40372</c:v>
                </c:pt>
                <c:pt idx="12">
                  <c:v>5.313</c:v>
                </c:pt>
                <c:pt idx="13">
                  <c:v>5.086316</c:v>
                </c:pt>
                <c:pt idx="14">
                  <c:v>4.79909</c:v>
                </c:pt>
                <c:pt idx="15">
                  <c:v>4.934553</c:v>
                </c:pt>
                <c:pt idx="16">
                  <c:v>4.764803</c:v>
                </c:pt>
                <c:pt idx="17">
                  <c:v>5.150567</c:v>
                </c:pt>
                <c:pt idx="18">
                  <c:v>4.520566</c:v>
                </c:pt>
                <c:pt idx="19">
                  <c:v>5.428932</c:v>
                </c:pt>
                <c:pt idx="20">
                  <c:v>5.366327</c:v>
                </c:pt>
                <c:pt idx="21">
                  <c:v>5.278915</c:v>
                </c:pt>
                <c:pt idx="22">
                  <c:v>5.1686</c:v>
                </c:pt>
                <c:pt idx="23">
                  <c:v>4.708993</c:v>
                </c:pt>
                <c:pt idx="24">
                  <c:v>5.18846</c:v>
                </c:pt>
                <c:pt idx="25">
                  <c:v>4.853683</c:v>
                </c:pt>
                <c:pt idx="26">
                  <c:v>4.842223</c:v>
                </c:pt>
                <c:pt idx="27">
                  <c:v>4.914933</c:v>
                </c:pt>
                <c:pt idx="28">
                  <c:v>6.582409</c:v>
                </c:pt>
                <c:pt idx="29">
                  <c:v>6.580299</c:v>
                </c:pt>
                <c:pt idx="30">
                  <c:v>3.932579</c:v>
                </c:pt>
                <c:pt idx="31">
                  <c:v>3.968704</c:v>
                </c:pt>
                <c:pt idx="32">
                  <c:v>7.316988</c:v>
                </c:pt>
                <c:pt idx="33">
                  <c:v>4.167138</c:v>
                </c:pt>
                <c:pt idx="34">
                  <c:v>6.125121</c:v>
                </c:pt>
                <c:pt idx="35">
                  <c:v>3.311256</c:v>
                </c:pt>
                <c:pt idx="36">
                  <c:v>4.428208</c:v>
                </c:pt>
                <c:pt idx="37">
                  <c:v>5.002168</c:v>
                </c:pt>
                <c:pt idx="38">
                  <c:v>5.20482</c:v>
                </c:pt>
                <c:pt idx="39">
                  <c:v>9.154156</c:v>
                </c:pt>
                <c:pt idx="40">
                  <c:v>6.134223</c:v>
                </c:pt>
                <c:pt idx="41">
                  <c:v>6.503111</c:v>
                </c:pt>
                <c:pt idx="42">
                  <c:v>8.700755</c:v>
                </c:pt>
                <c:pt idx="43">
                  <c:v>9.534356</c:v>
                </c:pt>
                <c:pt idx="44">
                  <c:v>9.624129</c:v>
                </c:pt>
                <c:pt idx="45">
                  <c:v>9.265908</c:v>
                </c:pt>
                <c:pt idx="46">
                  <c:v>10.07924</c:v>
                </c:pt>
                <c:pt idx="47">
                  <c:v>10.854922</c:v>
                </c:pt>
                <c:pt idx="48">
                  <c:v>14.374245</c:v>
                </c:pt>
                <c:pt idx="49">
                  <c:v>20.748403</c:v>
                </c:pt>
                <c:pt idx="50">
                  <c:v>19.82632</c:v>
                </c:pt>
                <c:pt idx="51">
                  <c:v>27.51515</c:v>
                </c:pt>
                <c:pt idx="52">
                  <c:v>52.947857</c:v>
                </c:pt>
                <c:pt idx="53">
                  <c:v>64.049239</c:v>
                </c:pt>
                <c:pt idx="54">
                  <c:v>72.167271</c:v>
                </c:pt>
                <c:pt idx="55">
                  <c:v>91.899561</c:v>
                </c:pt>
                <c:pt idx="56">
                  <c:v>74.874038</c:v>
                </c:pt>
                <c:pt idx="57">
                  <c:v>194.483046</c:v>
                </c:pt>
                <c:pt idx="58">
                  <c:v>210.694079</c:v>
                </c:pt>
                <c:pt idx="59">
                  <c:v>238.656136</c:v>
                </c:pt>
                <c:pt idx="60">
                  <c:v>283.748968</c:v>
                </c:pt>
                <c:pt idx="61">
                  <c:v>310.52569</c:v>
                </c:pt>
                <c:pt idx="62">
                  <c:v>528.452325</c:v>
                </c:pt>
                <c:pt idx="63">
                  <c:v>511.193335</c:v>
                </c:pt>
                <c:pt idx="64">
                  <c:v>556.997671</c:v>
                </c:pt>
                <c:pt idx="65">
                  <c:v>651.555866</c:v>
                </c:pt>
                <c:pt idx="66">
                  <c:v>731.013236</c:v>
                </c:pt>
                <c:pt idx="67">
                  <c:v>789.619566</c:v>
                </c:pt>
                <c:pt idx="68">
                  <c:v>856.573363</c:v>
                </c:pt>
                <c:pt idx="69">
                  <c:v>906.693695</c:v>
                </c:pt>
                <c:pt idx="70">
                  <c:v>799.328872</c:v>
                </c:pt>
                <c:pt idx="71">
                  <c:v>1022.250463</c:v>
                </c:pt>
                <c:pt idx="72">
                  <c:v>1087.406455</c:v>
                </c:pt>
                <c:pt idx="73">
                  <c:v>1061.057682</c:v>
                </c:pt>
                <c:pt idx="74">
                  <c:v>1228.424547</c:v>
                </c:pt>
                <c:pt idx="75">
                  <c:v>1236.059704</c:v>
                </c:pt>
                <c:pt idx="76">
                  <c:v>1376.691123</c:v>
                </c:pt>
                <c:pt idx="77">
                  <c:v>1387.402305</c:v>
                </c:pt>
                <c:pt idx="78">
                  <c:v>1443.218462</c:v>
                </c:pt>
                <c:pt idx="79">
                  <c:v>1654.789059</c:v>
                </c:pt>
                <c:pt idx="80">
                  <c:v>1780.456171</c:v>
                </c:pt>
                <c:pt idx="81">
                  <c:v>1891.89098</c:v>
                </c:pt>
                <c:pt idx="82">
                  <c:v>1340.790586</c:v>
                </c:pt>
                <c:pt idx="83">
                  <c:v>2157.619854</c:v>
                </c:pt>
                <c:pt idx="84">
                  <c:v>2174.765537</c:v>
                </c:pt>
                <c:pt idx="85">
                  <c:v>2271.377023</c:v>
                </c:pt>
                <c:pt idx="86">
                  <c:v>1516.965275</c:v>
                </c:pt>
                <c:pt idx="87">
                  <c:v>1769.179053</c:v>
                </c:pt>
                <c:pt idx="88">
                  <c:v>2586.234494</c:v>
                </c:pt>
                <c:pt idx="89">
                  <c:v>2446.032385</c:v>
                </c:pt>
                <c:pt idx="90">
                  <c:v>1975.060944</c:v>
                </c:pt>
                <c:pt idx="91">
                  <c:v>2005.426076</c:v>
                </c:pt>
                <c:pt idx="92">
                  <c:v>2869.197054</c:v>
                </c:pt>
                <c:pt idx="93">
                  <c:v>2792.413842</c:v>
                </c:pt>
                <c:pt idx="94">
                  <c:v>2585.393226</c:v>
                </c:pt>
                <c:pt idx="95">
                  <c:v>2764.839053</c:v>
                </c:pt>
                <c:pt idx="96">
                  <c:v>3112.042916</c:v>
                </c:pt>
                <c:pt idx="97">
                  <c:v>3016.250565</c:v>
                </c:pt>
                <c:pt idx="98">
                  <c:v>2974.640742</c:v>
                </c:pt>
                <c:pt idx="99">
                  <c:v>3394.371663</c:v>
                </c:pt>
                <c:pt idx="100">
                  <c:v>3402.740504</c:v>
                </c:pt>
                <c:pt idx="101">
                  <c:v>3209.627243</c:v>
                </c:pt>
                <c:pt idx="102">
                  <c:v>3242.579381</c:v>
                </c:pt>
                <c:pt idx="103">
                  <c:v>3480.122648</c:v>
                </c:pt>
                <c:pt idx="104">
                  <c:v>3786.418587</c:v>
                </c:pt>
                <c:pt idx="105">
                  <c:v>3905.157025</c:v>
                </c:pt>
                <c:pt idx="106">
                  <c:v>3983.260165</c:v>
                </c:pt>
                <c:pt idx="107">
                  <c:v>4062.925369</c:v>
                </c:pt>
                <c:pt idx="108">
                  <c:v>4144.183876</c:v>
                </c:pt>
                <c:pt idx="109">
                  <c:v>4227.067553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2"/>
        <c:tickMarkSkip val="12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Robot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TREMFYA IBD  ·  WEEKLY TRX BY INDICATION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40D62"/>
                </a:solidFill>
                <a:latin typeface="Montserrat Medium"/>
              </a:rPr>
              <a:t>01 OF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03504"/>
            <a:ext cx="11384280" cy="16459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71D49"/>
                </a:solidFill>
                <a:latin typeface="Montserrat Medium"/>
              </a:rPr>
              <a:t>Crohn's Has Overtaken Ulcerative Colitis in Tremfya's IBD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91056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50535A"/>
                </a:solidFill>
                <a:latin typeface="Roboto"/>
              </a:rPr>
              <a:t>Tremfya's weekly IBD volume has scaled from ~8 to ~7,605 TRx since May 2024. Within IBD, Crohn's pulled level in Oct 2025 and now leads ulcerative colitis.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0428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535A"/>
                </a:solidFill>
                <a:latin typeface="Montserrat Medium"/>
              </a:rPr>
              <a:t>WEEKLY TRX — UC VS CD (FULL SERIES)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2606040"/>
          <a:ext cx="68580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260604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877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Crohn's now 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1693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CD ~4,227 vs UC ~3,378 TRx in the latest week (06-05).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9476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764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Crossover · Oct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0565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UC led decisively in early 2025; the two drew level by autumn before CD pulled ahead.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98348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9651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~962x 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29437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Tremfya's IBD volume rose from ~8 to ~7,605 weekly TRx.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11384280" cy="420624"/>
          </a:xfrm>
          <a:prstGeom prst="rect">
            <a:avLst/>
          </a:prstGeom>
          <a:solidFill>
            <a:srgbClr val="FB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943600"/>
            <a:ext cx="54864" cy="420624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1064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0D62"/>
                </a:solidFill>
                <a:latin typeface="Roboto"/>
              </a:rPr>
              <a:t>TL;DR   </a:t>
            </a:r>
            <a:r>
              <a:rPr sz="1150" b="0" i="0">
                <a:solidFill>
                  <a:srgbClr val="071D49"/>
                </a:solidFill>
                <a:latin typeface="Roboto"/>
              </a:rPr>
              <a:t>Within Tremfya's IBD business, Crohn's has overtaken ulcerative colitis and is the faster-growing of the two indications.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▶ </a:t>
            </a:r>
            <a:r>
              <a:rPr sz="1100" b="1" i="0">
                <a:solidFill>
                  <a:srgbClr val="071D49"/>
                </a:solidFill>
                <a:latin typeface="Montserrat Medium"/>
              </a:rPr>
              <a:t>DataZymes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071D49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